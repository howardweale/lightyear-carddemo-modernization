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8d290548b042e9" /><Relationship Type="http://schemas.openxmlformats.org/officeDocument/2006/relationships/extended-properties" Target="/docProps/app.xml" Id="R13400615b30f4e2b" /><Relationship Type="http://schemas.openxmlformats.org/officeDocument/2006/relationships/officeDocument" Target="/ppt/presentation.xml" Id="R01e8d5a0f6b741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00d8e81ba349bd"/>
  </p:sldMasterIdLst>
  <p:notesMasterIdLst>
    <p:notesMasterId xmlns:r="http://schemas.openxmlformats.org/officeDocument/2006/relationships" r:id="R0aae193fe71645ad"/>
  </p:notesMasterIdLst>
  <p:sldIdLst>
    <p:sldId xmlns:r="http://schemas.openxmlformats.org/officeDocument/2006/relationships" id="256" r:id="R19e437bcf2144151"/>
    <p:sldId xmlns:r="http://schemas.openxmlformats.org/officeDocument/2006/relationships" id="257" r:id="Rb9f0c9692d14494d"/>
    <p:sldId xmlns:r="http://schemas.openxmlformats.org/officeDocument/2006/relationships" id="258" r:id="Re8c31f1d2cb04cc2"/>
    <p:sldId xmlns:r="http://schemas.openxmlformats.org/officeDocument/2006/relationships" id="259" r:id="R37cb9b78764d4331"/>
    <p:sldId xmlns:r="http://schemas.openxmlformats.org/officeDocument/2006/relationships" id="260" r:id="Rd111a36d9ffd4c20"/>
    <p:sldId xmlns:r="http://schemas.openxmlformats.org/officeDocument/2006/relationships" id="261" r:id="R6ea5ae5ba76049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190455878147fe" /><Relationship Type="http://schemas.openxmlformats.org/officeDocument/2006/relationships/slideMaster" Target="/ppt/slideMasters/slideMaster1.xml" Id="R0900d8e81ba349bd" /><Relationship Type="http://schemas.openxmlformats.org/officeDocument/2006/relationships/notesMaster" Target="/ppt/notesMasters/notesMaster1.xml" Id="R0aae193fe71645ad" /><Relationship Type="http://schemas.openxmlformats.org/officeDocument/2006/relationships/presProps" Target="/ppt/presProps.xml" Id="R7e23f1cb665949d0" /><Relationship Type="http://schemas.openxmlformats.org/officeDocument/2006/relationships/tableStyles" Target="/ppt/tableStyles.xml" Id="R857775124ba3468c" /><Relationship Type="http://schemas.openxmlformats.org/officeDocument/2006/relationships/slide" Target="/ppt/slides/slide1.xml" Id="R19e437bcf2144151" /><Relationship Type="http://schemas.openxmlformats.org/officeDocument/2006/relationships/slide" Target="/ppt/slides/slide2.xml" Id="Rb9f0c9692d14494d" /><Relationship Type="http://schemas.openxmlformats.org/officeDocument/2006/relationships/slide" Target="/ppt/slides/slide3.xml" Id="Re8c31f1d2cb04cc2" /><Relationship Type="http://schemas.openxmlformats.org/officeDocument/2006/relationships/slide" Target="/ppt/slides/slide4.xml" Id="R37cb9b78764d4331" /><Relationship Type="http://schemas.openxmlformats.org/officeDocument/2006/relationships/slide" Target="/ppt/slides/slide5.xml" Id="Rd111a36d9ffd4c20" /><Relationship Type="http://schemas.openxmlformats.org/officeDocument/2006/relationships/slide" Target="/ppt/slides/slide6.xml" Id="R6ea5ae5ba76049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cd61628b7f40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8bec8ff9974772" /><Relationship Type="http://schemas.openxmlformats.org/officeDocument/2006/relationships/notesMaster" Target="/ppt/notesMasters/notesMaster1.xml" Id="R7aecbb711297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3b1272ca7f4fd8" /><Relationship Type="http://schemas.openxmlformats.org/officeDocument/2006/relationships/notesMaster" Target="/ppt/notesMasters/notesMaster1.xml" Id="R09499f69364840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b3cc7d7bed4a19" /><Relationship Type="http://schemas.openxmlformats.org/officeDocument/2006/relationships/notesMaster" Target="/ppt/notesMasters/notesMaster1.xml" Id="R79a02ffce11d48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c0501ea8b4454b" /><Relationship Type="http://schemas.openxmlformats.org/officeDocument/2006/relationships/notesMaster" Target="/ppt/notesMasters/notesMaster1.xml" Id="Rafc1b2c2d99743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e6713b773148e1" /><Relationship Type="http://schemas.openxmlformats.org/officeDocument/2006/relationships/notesMaster" Target="/ppt/notesMasters/notesMaster1.xml" Id="R56fd0d1e4b0a45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c71b635a4745d7" /><Relationship Type="http://schemas.openxmlformats.org/officeDocument/2006/relationships/notesMaster" Target="/ppt/notesMasters/notesMaster1.xml" Id="R0c43f71a95044c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opening for executive, investor, or customer presentations. Keep the title short and outcome-led.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LIGHTYEAR Brand Kit v1.0, Logo System, September 1,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layout to establish a new narrative section without adding an agenda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LIGHTYEAR Brand Kit v1.0, Logo System, September 1,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three-part narrative structure for principles, operating model, or strategic pillars.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LIGHTYEAR Brand Kit v1.0, Logo System, September 1,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layout to explain a three-stage architecture, operating flow, or decision chain.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LIGHTYEAR Brand Kit v1.0, Logo System, September 1,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large metrics only when the numbers are meaningful and source-backed. The values shown come from the repository milestone manifest.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LIGHTYEAR Brand Kit v1.0, Logo System, September 1,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audience should understand the concrete decision or proof run that comes next.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LIGHTYEAR Brand Kit v1.0, Logo System, September 1,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3f70524dac4b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1b9b1be448496d" /><Relationship Type="http://schemas.openxmlformats.org/officeDocument/2006/relationships/slideLayout" Target="/ppt/slideLayouts/slideLayout1.xml" Id="Rf29b93aedff14e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9b93aedff14e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8f5cc0e814716" /><Relationship Type="http://schemas.openxmlformats.org/officeDocument/2006/relationships/image" Target="/ppt/media/image.png" Id="R26620d7e679a49f4" /><Relationship Type="http://schemas.openxmlformats.org/officeDocument/2006/relationships/image" Target="/ppt/media/image.svg" Id="Ra108a5d933564bde" /><Relationship Type="http://schemas.openxmlformats.org/officeDocument/2006/relationships/image" Target="/ppt/media/image2.png" Id="R223eb48edd0a46f1" /><Relationship Type="http://schemas.openxmlformats.org/officeDocument/2006/relationships/image" Target="/ppt/media/image2.svg" Id="Rbbe5a2e5cb214904" /><Relationship Type="http://schemas.openxmlformats.org/officeDocument/2006/relationships/notesSlide" Target="/ppt/notesSlides/notesSlide1.xml" Id="Rff02182d467541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038c908a645cc" /><Relationship Type="http://schemas.openxmlformats.org/officeDocument/2006/relationships/image" Target="/ppt/media/image3.png" Id="R1d307f2d55d24764" /><Relationship Type="http://schemas.openxmlformats.org/officeDocument/2006/relationships/image" Target="/ppt/media/image3.svg" Id="Rad2397cb4b3a4d3c" /><Relationship Type="http://schemas.openxmlformats.org/officeDocument/2006/relationships/image" Target="/ppt/media/image4.png" Id="Rb87b57bf03ca45f4" /><Relationship Type="http://schemas.openxmlformats.org/officeDocument/2006/relationships/image" Target="/ppt/media/image4.svg" Id="R71f12fe6c82d4e80" /><Relationship Type="http://schemas.openxmlformats.org/officeDocument/2006/relationships/notesSlide" Target="/ppt/notesSlides/notesSlide2.xml" Id="Rc0bb0784b80844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7d055f14c4436" /><Relationship Type="http://schemas.openxmlformats.org/officeDocument/2006/relationships/image" Target="/ppt/media/image5.png" Id="R2ef28d1d70064346" /><Relationship Type="http://schemas.openxmlformats.org/officeDocument/2006/relationships/image" Target="/ppt/media/image5.svg" Id="R04eec531b2f24511" /><Relationship Type="http://schemas.openxmlformats.org/officeDocument/2006/relationships/notesSlide" Target="/ppt/notesSlides/notesSlide3.xml" Id="R1f380e64fb9841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56b0cdaea4688" /><Relationship Type="http://schemas.openxmlformats.org/officeDocument/2006/relationships/image" Target="/ppt/media/image6.png" Id="R5223fea1037a4cb9" /><Relationship Type="http://schemas.openxmlformats.org/officeDocument/2006/relationships/image" Target="/ppt/media/image6.svg" Id="R93acb1f417cb40c3" /><Relationship Type="http://schemas.openxmlformats.org/officeDocument/2006/relationships/notesSlide" Target="/ppt/notesSlides/notesSlide4.xml" Id="R99b11840ed214d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12d66298e4695" /><Relationship Type="http://schemas.openxmlformats.org/officeDocument/2006/relationships/image" Target="/ppt/media/image7.png" Id="R47e94aa8ea3949e6" /><Relationship Type="http://schemas.openxmlformats.org/officeDocument/2006/relationships/image" Target="/ppt/media/image7.svg" Id="R0e15478984d44757" /><Relationship Type="http://schemas.openxmlformats.org/officeDocument/2006/relationships/notesSlide" Target="/ppt/notesSlides/notesSlide5.xml" Id="R7a6d278c2bda48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5d25575d274de4" /><Relationship Type="http://schemas.openxmlformats.org/officeDocument/2006/relationships/image" Target="/ppt/media/image8.png" Id="R6d0436fc08ac4174" /><Relationship Type="http://schemas.openxmlformats.org/officeDocument/2006/relationships/image" Target="/ppt/media/image8.svg" Id="R1559a60e65ef44fc" /><Relationship Type="http://schemas.openxmlformats.org/officeDocument/2006/relationships/image" Target="/ppt/media/image9.png" Id="R502297205c864cbc" /><Relationship Type="http://schemas.openxmlformats.org/officeDocument/2006/relationships/image" Target="/ppt/media/image9.svg" Id="R7802ba2e741e469e" /><Relationship Type="http://schemas.openxmlformats.org/officeDocument/2006/relationships/notesSlide" Target="/ppt/notesSlides/notesSlide6.xml" Id="R9888157e673341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8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620d7e679a49f4">
            <a:extLst>
              <a:ext uri="{96DAC541-7B7A-43D3-8B79-37D633B846F1}">
                <asvg:svgBlip xmlns:asvg="http://schemas.microsoft.com/office/drawing/2016/SVG/main" r:embed="Ra108a5d933564bd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514350"/>
            <a:ext cx="2857500" cy="762000"/>
          </a:xfrm>
          <a:prstGeom xmlns:a="http://schemas.openxmlformats.org/drawingml/2006/main" prst="rect">
            <a:avLst/>
          </a:prstGeom>
        </p:spPr>
      </p:pic>
      <p:sp>
        <p:nvSpPr>
          <p:cNvPr id="2" name="rule-78-176">
            <a:extLst xmlns:a="http://schemas.openxmlformats.org/drawingml/2006/main">
              <a:ext uri="{FF2B5EF4-FFF2-40B4-BE49-F238E27FC236}">
                <a16:creationId xmlns:a16="http://schemas.microsoft.com/office/drawing/2014/main" id="{D9930CD0-5D04-452E-8E99-ACA77B40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7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37F8B0-1189-459C-A659-29248F4C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8382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EFEFE"/>
                </a:solidFill>
              </a:defRPr>
            </a:pPr>
            <a:r>
              <a:rPr sz="4350" b="1">
                <a:solidFill>
                  <a:srgbClr val="FEFEFE"/>
                </a:solidFill>
              </a:rPr>
              <a:t>Where context becomes</a:t>
            </a:r>
          </a:p>
          <a:p xmlns:a="http://schemas.openxmlformats.org/drawingml/2006/main">
            <a:pPr algn="l">
              <a:defRPr sz="4350" b="1">
                <a:solidFill>
                  <a:srgbClr val="FEFEFE"/>
                </a:solidFill>
              </a:defRPr>
            </a:pPr>
            <a:r>
              <a:rPr sz="4350" b="1">
                <a:solidFill>
                  <a:srgbClr val="FEFEFE"/>
                </a:solidFill>
              </a:rPr>
              <a:t>trusted action.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5B5711C-2FD8-41CD-953A-7480B7A7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8CCF8"/>
                </a:solidFill>
              </a:defRPr>
            </a:pPr>
            <a:r>
              <a:rPr sz="1725" b="0">
                <a:solidFill>
                  <a:srgbClr val="D8CCF8"/>
                </a:solidFill>
              </a:rPr>
              <a:t>A presentation system for evidence-led modernization decisions.</a:t>
            </a:r>
          </a:p>
        </p:txBody>
      </p:sp>
      <p:sp>
        <p:nvSpPr>
          <p:cNvPr id="5" name="version">
            <a:extLst xmlns:a="http://schemas.openxmlformats.org/drawingml/2006/main">
              <a:ext uri="{FF2B5EF4-FFF2-40B4-BE49-F238E27FC236}">
                <a16:creationId xmlns:a16="http://schemas.microsoft.com/office/drawing/2014/main" id="{BD0F9BAF-1CAE-4A75-AA8B-8E039220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67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CCF8"/>
                </a:solidFill>
              </a:defRPr>
            </a:pPr>
            <a:r>
              <a:rPr sz="975" b="1">
                <a:solidFill>
                  <a:srgbClr val="D8CCF8"/>
                </a:solidFill>
              </a:rPr>
              <a:t>LIGHTYEAR BRAND SYSTEM · VERSION 1.0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eb48edd0a46f1">
            <a:extLst>
              <a:ext uri="{96DAC541-7B7A-43D3-8B79-37D633B846F1}">
                <asvg:svgBlip xmlns:asvg="http://schemas.microsoft.com/office/drawing/2016/SVG/main" r:embed="Rbbe5a2e5cb2149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048750" y="3714750"/>
            <a:ext cx="2381250" cy="1809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7055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307f2d55d24764">
            <a:extLst>
              <a:ext uri="{96DAC541-7B7A-43D3-8B79-37D633B846F1}">
                <asvg:svgBlip xmlns:asvg="http://schemas.microsoft.com/office/drawing/2016/SVG/main" r:embed="Rad2397cb4b3a4d3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419100"/>
            <a:ext cx="2381250" cy="60960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56EDABD-7FED-437D-8BBA-F84BCB8A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7702C"/>
                </a:solidFill>
              </a:defRPr>
            </a:pPr>
            <a:r>
              <a:rPr sz="1050" b="1">
                <a:solidFill>
                  <a:srgbClr val="A7702C"/>
                </a:solidFill>
              </a:rPr>
              <a:t>SECTION OPENER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18C33D-FDE6-4FBF-A1C7-9C22942C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184D"/>
                </a:solidFill>
              </a:defRPr>
            </a:pPr>
            <a:r>
              <a:rPr sz="3900" b="1">
                <a:solidFill>
                  <a:srgbClr val="15184D"/>
                </a:solidFill>
              </a:rPr>
              <a:t>A system built for</a:t>
            </a:r>
          </a:p>
          <a:p xmlns:a="http://schemas.openxmlformats.org/drawingml/2006/main">
            <a:pPr algn="l">
              <a:defRPr sz="3900" b="1">
                <a:solidFill>
                  <a:srgbClr val="15184D"/>
                </a:solidFill>
              </a:defRPr>
            </a:pPr>
            <a:r>
              <a:rPr sz="3900" b="1">
                <a:solidFill>
                  <a:srgbClr val="15184D"/>
                </a:solidFill>
              </a:rPr>
              <a:t>reviewable decisions.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4875CF1-4610-4B7C-8B1F-C56D14A2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619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76985"/>
                </a:solidFill>
              </a:defRPr>
            </a:pPr>
            <a:r>
              <a:rPr sz="1650" b="0">
                <a:solidFill>
                  <a:srgbClr val="676985"/>
                </a:solidFill>
              </a:rPr>
              <a:t>Use generous whitespace, a single clear claim, and one signal of emphasis.</a:t>
            </a:r>
          </a:p>
        </p:txBody>
      </p:sp>
      <p:sp>
        <p:nvSpPr>
          <p:cNvPr id="5" name="violet-field">
            <a:extLst xmlns:a="http://schemas.openxmlformats.org/drawingml/2006/main">
              <a:ext uri="{FF2B5EF4-FFF2-40B4-BE49-F238E27FC236}">
                <a16:creationId xmlns:a16="http://schemas.microsoft.com/office/drawing/2014/main" id="{C2AE80AE-7487-4A72-9ABB-61FA795F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0"/>
            <a:ext cx="3105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BF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7b57bf03ca45f4">
            <a:extLst>
              <a:ext uri="{96DAC541-7B7A-43D3-8B79-37D633B846F1}">
                <asvg:svgBlip xmlns:asvg="http://schemas.microsoft.com/office/drawing/2016/SVG/main" r:embed="R71f12fe6c82d4e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77375" y="2238375"/>
            <a:ext cx="2286000" cy="1714500"/>
          </a:xfrm>
          <a:prstGeom xmlns:a="http://schemas.openxmlformats.org/drawingml/2006/main" prst="rect">
            <a:avLst/>
          </a:prstGeom>
        </p:spPr>
      </p:pic>
      <p:sp>
        <p:nvSpPr>
          <p:cNvPr id="7" name="rule-954-0">
            <a:extLst xmlns:a="http://schemas.openxmlformats.org/drawingml/2006/main">
              <a:ext uri="{FF2B5EF4-FFF2-40B4-BE49-F238E27FC236}">
                <a16:creationId xmlns:a16="http://schemas.microsoft.com/office/drawing/2014/main" id="{219D2060-0B07-49FA-94C6-6A552660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57E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17281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28d1d70064346">
            <a:extLst>
              <a:ext uri="{96DAC541-7B7A-43D3-8B79-37D633B846F1}">
                <asvg:svgBlip xmlns:asvg="http://schemas.microsoft.com/office/drawing/2016/SVG/main" r:embed="R04eec531b2f2451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419100"/>
            <a:ext cx="2381250" cy="609600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E6F71D8-78C5-4420-8CF6-88F1DBE8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184D"/>
                </a:solidFill>
              </a:defRPr>
            </a:pPr>
            <a:r>
              <a:rPr sz="3000" b="1">
                <a:solidFill>
                  <a:srgbClr val="15184D"/>
                </a:solidFill>
              </a:rPr>
              <a:t>Modernization decisions need evidence, not confidence theater.</a:t>
            </a:r>
          </a:p>
        </p:txBody>
      </p:sp>
      <p:sp>
        <p:nvSpPr>
          <p:cNvPr id="3" name="number-0">
            <a:extLst xmlns:a="http://schemas.openxmlformats.org/drawingml/2006/main">
              <a:ext uri="{FF2B5EF4-FFF2-40B4-BE49-F238E27FC236}">
                <a16:creationId xmlns:a16="http://schemas.microsoft.com/office/drawing/2014/main" id="{35E62E7B-0723-4ECF-82DE-45F3DA0D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7D57EA"/>
                </a:solidFill>
              </a:defRPr>
            </a:pPr>
            <a:r>
              <a:rPr sz="2850" b="1">
                <a:solidFill>
                  <a:srgbClr val="7D57EA"/>
                </a:solidFill>
              </a:rPr>
              <a:t>01</a:t>
            </a:r>
          </a:p>
        </p:txBody>
      </p:sp>
      <p:sp>
        <p:nvSpPr>
          <p:cNvPr id="4" name="heading-0">
            <a:extLst xmlns:a="http://schemas.openxmlformats.org/drawingml/2006/main">
              <a:ext uri="{FF2B5EF4-FFF2-40B4-BE49-F238E27FC236}">
                <a16:creationId xmlns:a16="http://schemas.microsoft.com/office/drawing/2014/main" id="{CBB92FE8-FDBC-445A-84AA-5731A2E0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84D"/>
                </a:solidFill>
              </a:defRPr>
            </a:pPr>
            <a:r>
              <a:rPr sz="1950" b="1">
                <a:solidFill>
                  <a:srgbClr val="15184D"/>
                </a:solidFill>
              </a:rPr>
              <a:t>Context</a:t>
            </a:r>
          </a:p>
        </p:txBody>
      </p:sp>
      <p:sp>
        <p:nvSpPr>
          <p:cNvPr id="5" name="body-0">
            <a:extLst xmlns:a="http://schemas.openxmlformats.org/drawingml/2006/main">
              <a:ext uri="{FF2B5EF4-FFF2-40B4-BE49-F238E27FC236}">
                <a16:creationId xmlns:a16="http://schemas.microsoft.com/office/drawing/2014/main" id="{2FCE2CDD-DE82-41F0-812A-1DF6EF11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2876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76985"/>
                </a:solidFill>
              </a:defRPr>
            </a:pPr>
            <a:r>
              <a:rPr sz="1425" b="0">
                <a:solidFill>
                  <a:srgbClr val="676985"/>
                </a:solidFill>
              </a:rPr>
              <a:t>Keep every workload, dependency, policy, and evidence class in one navigable frame.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5E18BA9B-43DC-41FD-8C23-457ED0E2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781300"/>
            <a:ext cx="95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7E299979-A4C8-450E-BACC-6389699A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7D57EA"/>
                </a:solidFill>
              </a:defRPr>
            </a:pPr>
            <a:r>
              <a:rPr sz="2850" b="1">
                <a:solidFill>
                  <a:srgbClr val="7D57EA"/>
                </a:solidFill>
              </a:rPr>
              <a:t>02</a:t>
            </a:r>
          </a:p>
        </p:txBody>
      </p:sp>
      <p:sp>
        <p:nvSpPr>
          <p:cNvPr id="8" name="heading-1">
            <a:extLst xmlns:a="http://schemas.openxmlformats.org/drawingml/2006/main">
              <a:ext uri="{FF2B5EF4-FFF2-40B4-BE49-F238E27FC236}">
                <a16:creationId xmlns:a16="http://schemas.microsoft.com/office/drawing/2014/main" id="{CEBF6112-1266-44B2-8E53-4DE15ED5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528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84D"/>
                </a:solidFill>
              </a:defRPr>
            </a:pPr>
            <a:r>
              <a:rPr sz="1950" b="1">
                <a:solidFill>
                  <a:srgbClr val="15184D"/>
                </a:solidFill>
              </a:rPr>
              <a:t>Proof</a:t>
            </a:r>
          </a:p>
        </p:txBody>
      </p:sp>
      <p:sp>
        <p:nvSpPr>
          <p:cNvPr id="9" name="body-1">
            <a:extLst xmlns:a="http://schemas.openxmlformats.org/drawingml/2006/main">
              <a:ext uri="{FF2B5EF4-FFF2-40B4-BE49-F238E27FC236}">
                <a16:creationId xmlns:a16="http://schemas.microsoft.com/office/drawing/2014/main" id="{259BCA3A-DAD0-43AA-A710-D73DEE03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24300"/>
            <a:ext cx="2876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76985"/>
                </a:solidFill>
              </a:defRPr>
            </a:pPr>
            <a:r>
              <a:rPr sz="1425" b="0">
                <a:solidFill>
                  <a:srgbClr val="676985"/>
                </a:solidFill>
              </a:rPr>
              <a:t>Separate asserted mappings, deterministic results, and authorized live observations.</a:t>
            </a:r>
          </a:p>
        </p:txBody>
      </p:sp>
      <p:sp>
        <p:nvSpPr>
          <p:cNvPr id="10" name="divider-2">
            <a:extLst xmlns:a="http://schemas.openxmlformats.org/drawingml/2006/main">
              <a:ext uri="{FF2B5EF4-FFF2-40B4-BE49-F238E27FC236}">
                <a16:creationId xmlns:a16="http://schemas.microsoft.com/office/drawing/2014/main" id="{50956E94-EF67-44F4-942A-6885BAF0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81300"/>
            <a:ext cx="95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number-2">
            <a:extLst xmlns:a="http://schemas.openxmlformats.org/drawingml/2006/main">
              <a:ext uri="{FF2B5EF4-FFF2-40B4-BE49-F238E27FC236}">
                <a16:creationId xmlns:a16="http://schemas.microsoft.com/office/drawing/2014/main" id="{47C471A9-D25B-4AB6-A805-A12CD45E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7D57EA"/>
                </a:solidFill>
              </a:defRPr>
            </a:pPr>
            <a:r>
              <a:rPr sz="2850" b="1">
                <a:solidFill>
                  <a:srgbClr val="7D57EA"/>
                </a:solidFill>
              </a:rPr>
              <a:t>03</a:t>
            </a:r>
          </a:p>
        </p:txBody>
      </p:sp>
      <p:sp>
        <p:nvSpPr>
          <p:cNvPr id="12" name="heading-2">
            <a:extLst xmlns:a="http://schemas.openxmlformats.org/drawingml/2006/main">
              <a:ext uri="{FF2B5EF4-FFF2-40B4-BE49-F238E27FC236}">
                <a16:creationId xmlns:a16="http://schemas.microsoft.com/office/drawing/2014/main" id="{4C70A32A-E1EC-4C10-B529-D0B35AD8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528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84D"/>
                </a:solidFill>
              </a:defRPr>
            </a:pPr>
            <a:r>
              <a:rPr sz="1950" b="1">
                <a:solidFill>
                  <a:srgbClr val="15184D"/>
                </a:solidFill>
              </a:rPr>
              <a:t>Action</a:t>
            </a:r>
          </a:p>
        </p:txBody>
      </p:sp>
      <p:sp>
        <p:nvSpPr>
          <p:cNvPr id="13" name="body-2">
            <a:extLst xmlns:a="http://schemas.openxmlformats.org/drawingml/2006/main">
              <a:ext uri="{FF2B5EF4-FFF2-40B4-BE49-F238E27FC236}">
                <a16:creationId xmlns:a16="http://schemas.microsoft.com/office/drawing/2014/main" id="{A8F0A3F4-9C6A-4A82-896B-CF18DB5B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24300"/>
            <a:ext cx="2876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76985"/>
                </a:solidFill>
              </a:defRPr>
            </a:pPr>
            <a:r>
              <a:rPr sz="1425" b="0">
                <a:solidFill>
                  <a:srgbClr val="676985"/>
                </a:solidFill>
              </a:rPr>
              <a:t>Turn evidence into the next bounded decision, owner, gate, or proof run.</a:t>
            </a:r>
          </a:p>
        </p:txBody>
      </p:sp>
      <p:sp>
        <p:nvSpPr>
          <p:cNvPr id="14" name="rule-76-596">
            <a:extLst xmlns:a="http://schemas.openxmlformats.org/drawingml/2006/main">
              <a:ext uri="{FF2B5EF4-FFF2-40B4-BE49-F238E27FC236}">
                <a16:creationId xmlns:a16="http://schemas.microsoft.com/office/drawing/2014/main" id="{947ADF3E-D4C2-479C-9A1B-E6E155E2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0744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7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D9C284C2-2668-4AB3-8F5E-97D5DBCD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790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84D"/>
                </a:solidFill>
              </a:defRPr>
            </a:pPr>
            <a:r>
              <a:rPr sz="1350" b="1">
                <a:solidFill>
                  <a:srgbClr val="15184D"/>
                </a:solidFill>
              </a:rPr>
              <a:t>One system. One source of truth. Clear claim boundaries.</a:t>
            </a:r>
          </a:p>
        </p:txBody>
      </p:sp>
    </p:spTree>
    <p:extLst>
      <p:ext uri="{BB962C8B-B14F-4D97-AF65-F5344CB8AC3E}">
        <p14:creationId xmlns:p14="http://schemas.microsoft.com/office/powerpoint/2010/main" val="17005397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23fea1037a4cb9">
            <a:extLst>
              <a:ext uri="{96DAC541-7B7A-43D3-8B79-37D633B846F1}">
                <asvg:svgBlip xmlns:asvg="http://schemas.microsoft.com/office/drawing/2016/SVG/main" r:embed="R93acb1f417cb40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419100"/>
            <a:ext cx="2381250" cy="609600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A575991-59D5-4398-858F-9C314D5F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933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184D"/>
                </a:solidFill>
              </a:defRPr>
            </a:pPr>
            <a:r>
              <a:rPr sz="3000" b="1">
                <a:solidFill>
                  <a:srgbClr val="15184D"/>
                </a:solidFill>
              </a:rPr>
              <a:t>Every decision remains attached to its evidence chain.</a:t>
            </a:r>
          </a:p>
        </p:txBody>
      </p:sp>
      <p:sp>
        <p:nvSpPr>
          <p:cNvPr id="3" name="stage-0">
            <a:extLst xmlns:a="http://schemas.openxmlformats.org/drawingml/2006/main">
              <a:ext uri="{FF2B5EF4-FFF2-40B4-BE49-F238E27FC236}">
                <a16:creationId xmlns:a16="http://schemas.microsoft.com/office/drawing/2014/main" id="{6AF5F4C0-F026-408C-B352-FC771A03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FEBFB"/>
          </a:solidFill>
          <a:ln xmlns:a="http://schemas.openxmlformats.org/drawingml/2006/main" w="9525">
            <a:solidFill>
              <a:srgbClr val="DDD7F2"/>
            </a:solidFill>
            <a:prstDash val="solid"/>
          </a:ln>
        </p:spPr>
      </p:sp>
      <p:sp>
        <p:nvSpPr>
          <p:cNvPr id="4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05DEB4F9-A396-464C-B3A1-BD722834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184D"/>
                </a:solidFill>
              </a:defRPr>
            </a:pPr>
            <a:r>
              <a:rPr sz="1875" b="1">
                <a:solidFill>
                  <a:srgbClr val="15184D"/>
                </a:solidFill>
              </a:rPr>
              <a:t>Sources</a:t>
            </a:r>
          </a:p>
        </p:txBody>
      </p:sp>
      <p:sp>
        <p:nvSpPr>
          <p:cNvPr id="5" name="stage-body-0">
            <a:extLst xmlns:a="http://schemas.openxmlformats.org/drawingml/2006/main">
              <a:ext uri="{FF2B5EF4-FFF2-40B4-BE49-F238E27FC236}">
                <a16:creationId xmlns:a16="http://schemas.microsoft.com/office/drawing/2014/main" id="{A35771BE-2E1E-45E8-87BF-839A0D8E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76985"/>
                </a:solidFill>
              </a:defRPr>
            </a:pPr>
            <a:r>
              <a:rPr sz="1200" b="0">
                <a:solidFill>
                  <a:srgbClr val="676985"/>
                </a:solidFill>
              </a:rPr>
              <a:t>Code · schemas · runtime</a:t>
            </a:r>
          </a:p>
        </p:txBody>
      </p:sp>
      <p:sp>
        <p:nvSpPr>
          <p:cNvPr id="6" name="connector-0">
            <a:extLst xmlns:a="http://schemas.openxmlformats.org/drawingml/2006/main">
              <a:ext uri="{FF2B5EF4-FFF2-40B4-BE49-F238E27FC236}">
                <a16:creationId xmlns:a16="http://schemas.microsoft.com/office/drawing/2014/main" id="{90411143-8328-4A6E-843D-489B9037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70522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7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row-0">
            <a:extLst xmlns:a="http://schemas.openxmlformats.org/drawingml/2006/main">
              <a:ext uri="{FF2B5EF4-FFF2-40B4-BE49-F238E27FC236}">
                <a16:creationId xmlns:a16="http://schemas.microsoft.com/office/drawing/2014/main" id="{398921EC-2765-4C69-8762-632D7C32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619500"/>
            <a:ext cx="1714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77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age-1">
            <a:extLst xmlns:a="http://schemas.openxmlformats.org/drawingml/2006/main">
              <a:ext uri="{FF2B5EF4-FFF2-40B4-BE49-F238E27FC236}">
                <a16:creationId xmlns:a16="http://schemas.microsoft.com/office/drawing/2014/main" id="{2C9850CE-B628-4ED0-9F9C-5F445253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527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7D57EA"/>
          </a:solidFill>
          <a:ln xmlns:a="http://schemas.openxmlformats.org/drawingml/2006/main" w="9525">
            <a:solidFill>
              <a:srgbClr val="7D57EA"/>
            </a:solidFill>
            <a:prstDash val="solid"/>
          </a:ln>
        </p:spPr>
      </p:sp>
      <p:sp>
        <p:nvSpPr>
          <p:cNvPr id="9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EF0AF388-7CBD-4653-B910-5DABA275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3850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EFEFE"/>
                </a:solidFill>
              </a:defRPr>
            </a:pPr>
            <a:r>
              <a:rPr sz="1875" b="1">
                <a:solidFill>
                  <a:srgbClr val="FEFEFE"/>
                </a:solidFill>
              </a:rPr>
              <a:t>Knowledge Graph</a:t>
            </a:r>
          </a:p>
        </p:txBody>
      </p:sp>
      <p:sp>
        <p:nvSpPr>
          <p:cNvPr id="10" name="stage-body-1">
            <a:extLst xmlns:a="http://schemas.openxmlformats.org/drawingml/2006/main">
              <a:ext uri="{FF2B5EF4-FFF2-40B4-BE49-F238E27FC236}">
                <a16:creationId xmlns:a16="http://schemas.microsoft.com/office/drawing/2014/main" id="{94B9A742-4661-4D0F-854F-C0AF65F6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290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EFEBFB"/>
                </a:solidFill>
              </a:defRPr>
            </a:pPr>
            <a:r>
              <a:rPr sz="1200" b="0">
                <a:solidFill>
                  <a:srgbClr val="EFEBFB"/>
                </a:solidFill>
              </a:rPr>
              <a:t>Context · claims · relationships</a:t>
            </a:r>
          </a:p>
        </p:txBody>
      </p:sp>
      <p:sp>
        <p:nvSpPr>
          <p:cNvPr id="11" name="connector-1">
            <a:extLst xmlns:a="http://schemas.openxmlformats.org/drawingml/2006/main">
              <a:ext uri="{FF2B5EF4-FFF2-40B4-BE49-F238E27FC236}">
                <a16:creationId xmlns:a16="http://schemas.microsoft.com/office/drawing/2014/main" id="{58702B25-6CF3-426D-93AB-96CAD455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70522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7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rrow-1">
            <a:extLst xmlns:a="http://schemas.openxmlformats.org/drawingml/2006/main">
              <a:ext uri="{FF2B5EF4-FFF2-40B4-BE49-F238E27FC236}">
                <a16:creationId xmlns:a16="http://schemas.microsoft.com/office/drawing/2014/main" id="{4078F585-24FC-4162-AD8B-57E70DD4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619500"/>
            <a:ext cx="1714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77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2">
            <a:extLst xmlns:a="http://schemas.openxmlformats.org/drawingml/2006/main">
              <a:ext uri="{FF2B5EF4-FFF2-40B4-BE49-F238E27FC236}">
                <a16:creationId xmlns:a16="http://schemas.microsoft.com/office/drawing/2014/main" id="{B04AC4A5-6439-44E5-BA4F-6EDECE05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527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FEBFB"/>
          </a:solidFill>
          <a:ln xmlns:a="http://schemas.openxmlformats.org/drawingml/2006/main" w="9525">
            <a:solidFill>
              <a:srgbClr val="DDD7F2"/>
            </a:solidFill>
            <a:prstDash val="solid"/>
          </a:ln>
        </p:spPr>
      </p:sp>
      <p:sp>
        <p:nvSpPr>
          <p:cNvPr id="14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841CDD17-B5F8-42A2-84DC-81A33AD3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3850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184D"/>
                </a:solidFill>
              </a:defRPr>
            </a:pPr>
            <a:r>
              <a:rPr sz="1875" b="1">
                <a:solidFill>
                  <a:srgbClr val="15184D"/>
                </a:solidFill>
              </a:rPr>
              <a:t>Trusted Action</a:t>
            </a:r>
          </a:p>
        </p:txBody>
      </p:sp>
      <p:sp>
        <p:nvSpPr>
          <p:cNvPr id="15" name="stage-body-2">
            <a:extLst xmlns:a="http://schemas.openxmlformats.org/drawingml/2006/main">
              <a:ext uri="{FF2B5EF4-FFF2-40B4-BE49-F238E27FC236}">
                <a16:creationId xmlns:a16="http://schemas.microsoft.com/office/drawing/2014/main" id="{EDC4CE44-8B35-4B15-93FD-309AFC83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290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76985"/>
                </a:solidFill>
              </a:defRPr>
            </a:pPr>
            <a:r>
              <a:rPr sz="1200" b="0">
                <a:solidFill>
                  <a:srgbClr val="676985"/>
                </a:solidFill>
              </a:rPr>
              <a:t>Decision · gate · proof run</a:t>
            </a:r>
          </a:p>
        </p:txBody>
      </p:sp>
      <p:sp>
        <p:nvSpPr>
          <p:cNvPr id="16" name="caption">
            <a:extLst xmlns:a="http://schemas.openxmlformats.org/drawingml/2006/main">
              <a:ext uri="{FF2B5EF4-FFF2-40B4-BE49-F238E27FC236}">
                <a16:creationId xmlns:a16="http://schemas.microsoft.com/office/drawing/2014/main" id="{7EEAEF9F-1E8E-4DE4-8149-7D274B8E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84D"/>
                </a:solidFill>
              </a:defRPr>
            </a:pPr>
            <a:r>
              <a:rPr sz="1575" b="1">
                <a:solidFill>
                  <a:srgbClr val="15184D"/>
                </a:solidFill>
              </a:rPr>
              <a:t>The graph is the connective tissue—not a decorative visualization.</a:t>
            </a:r>
          </a:p>
        </p:txBody>
      </p:sp>
      <p:sp>
        <p:nvSpPr>
          <p:cNvPr id="17" name="support">
            <a:extLst xmlns:a="http://schemas.openxmlformats.org/drawingml/2006/main">
              <a:ext uri="{FF2B5EF4-FFF2-40B4-BE49-F238E27FC236}">
                <a16:creationId xmlns:a16="http://schemas.microsoft.com/office/drawing/2014/main" id="{273E16D3-A8E8-4071-8E6F-5AEE6CCC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721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76985"/>
                </a:solidFill>
              </a:defRPr>
            </a:pPr>
            <a:r>
              <a:rPr sz="1275" b="0">
                <a:solidFill>
                  <a:srgbClr val="676985"/>
                </a:solidFill>
              </a:rPr>
              <a:t>Claims can be traced backward to source and forward to the next controlled action.</a:t>
            </a:r>
          </a:p>
        </p:txBody>
      </p:sp>
    </p:spTree>
    <p:extLst>
      <p:ext uri="{BB962C8B-B14F-4D97-AF65-F5344CB8AC3E}">
        <p14:creationId xmlns:p14="http://schemas.microsoft.com/office/powerpoint/2010/main" val="9501493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e94aa8ea3949e6">
            <a:extLst>
              <a:ext uri="{96DAC541-7B7A-43D3-8B79-37D633B846F1}">
                <asvg:svgBlip xmlns:asvg="http://schemas.microsoft.com/office/drawing/2016/SVG/main" r:embed="R0e15478984d447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419100"/>
            <a:ext cx="2381250" cy="609600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8BD99B1-7259-42E0-B4D9-F3FEA210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990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184D"/>
                </a:solidFill>
              </a:defRPr>
            </a:pPr>
            <a:r>
              <a:rPr sz="3000" b="1">
                <a:solidFill>
                  <a:srgbClr val="15184D"/>
                </a:solidFill>
              </a:rPr>
              <a:t>The documentation system is governed at portfolio scale.</a:t>
            </a:r>
          </a:p>
        </p:txBody>
      </p:sp>
      <p:sp>
        <p:nvSpPr>
          <p:cNvPr id="3" name="metric-0">
            <a:extLst xmlns:a="http://schemas.openxmlformats.org/drawingml/2006/main">
              <a:ext uri="{FF2B5EF4-FFF2-40B4-BE49-F238E27FC236}">
                <a16:creationId xmlns:a16="http://schemas.microsoft.com/office/drawing/2014/main" id="{45CB964E-5421-42EE-A174-09C4653A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7D57EA"/>
                </a:solidFill>
              </a:defRPr>
            </a:pPr>
            <a:r>
              <a:rPr sz="4650" b="1">
                <a:solidFill>
                  <a:srgbClr val="7D57EA"/>
                </a:solidFill>
              </a:rPr>
              <a:t>47</a:t>
            </a:r>
          </a:p>
        </p:txBody>
      </p:sp>
      <p:sp>
        <p:nvSpPr>
          <p:cNvPr id="4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AE0CE53E-8D9F-41D4-BB9B-5968D859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7702C"/>
                </a:solidFill>
              </a:defRPr>
            </a:pPr>
            <a:r>
              <a:rPr sz="1050" b="1">
                <a:solidFill>
                  <a:srgbClr val="A7702C"/>
                </a:solidFill>
              </a:rPr>
              <a:t>MILESTONES</a:t>
            </a:r>
          </a:p>
        </p:txBody>
      </p:sp>
      <p:sp>
        <p:nvSpPr>
          <p:cNvPr id="5" name="metric-body-0">
            <a:extLst xmlns:a="http://schemas.openxmlformats.org/drawingml/2006/main">
              <a:ext uri="{FF2B5EF4-FFF2-40B4-BE49-F238E27FC236}">
                <a16:creationId xmlns:a16="http://schemas.microsoft.com/office/drawing/2014/main" id="{B51218FA-5118-4F0C-A257-5D6395C3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76985"/>
                </a:solidFill>
              </a:defRPr>
            </a:pPr>
            <a:r>
              <a:rPr sz="1350" b="0">
                <a:solidFill>
                  <a:srgbClr val="676985"/>
                </a:solidFill>
              </a:rPr>
              <a:t>A customer-readable brief for every governed milestone.</a:t>
            </a:r>
          </a:p>
        </p:txBody>
      </p:sp>
      <p:sp>
        <p:nvSpPr>
          <p:cNvPr id="6" name="metric-divider-0">
            <a:extLst xmlns:a="http://schemas.openxmlformats.org/drawingml/2006/main">
              <a:ext uri="{FF2B5EF4-FFF2-40B4-BE49-F238E27FC236}">
                <a16:creationId xmlns:a16="http://schemas.microsoft.com/office/drawing/2014/main" id="{933E8614-79CC-4124-89C0-F7B618F2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24150"/>
            <a:ext cx="95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1">
            <a:extLst xmlns:a="http://schemas.openxmlformats.org/drawingml/2006/main">
              <a:ext uri="{FF2B5EF4-FFF2-40B4-BE49-F238E27FC236}">
                <a16:creationId xmlns:a16="http://schemas.microsoft.com/office/drawing/2014/main" id="{33D0A168-16EA-4889-A61F-3629C29C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8605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7D57EA"/>
                </a:solidFill>
              </a:defRPr>
            </a:pPr>
            <a:r>
              <a:rPr sz="4650" b="1">
                <a:solidFill>
                  <a:srgbClr val="7D57EA"/>
                </a:solidFill>
              </a:rPr>
              <a:t>141</a:t>
            </a:r>
          </a:p>
        </p:txBody>
      </p:sp>
      <p:sp>
        <p:nvSpPr>
          <p:cNvPr id="8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77E059E5-F9AB-452A-A49A-0CE5A42C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0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7702C"/>
                </a:solidFill>
              </a:defRPr>
            </a:pPr>
            <a:r>
              <a:rPr sz="1050" b="1">
                <a:solidFill>
                  <a:srgbClr val="A7702C"/>
                </a:solidFill>
              </a:rPr>
              <a:t>ARTIFACTS</a:t>
            </a:r>
          </a:p>
        </p:txBody>
      </p:sp>
      <p:sp>
        <p:nvSpPr>
          <p:cNvPr id="9" name="metric-body-1">
            <a:extLst xmlns:a="http://schemas.openxmlformats.org/drawingml/2006/main">
              <a:ext uri="{FF2B5EF4-FFF2-40B4-BE49-F238E27FC236}">
                <a16:creationId xmlns:a16="http://schemas.microsoft.com/office/drawing/2014/main" id="{74418B7D-83AE-4B56-8C19-C341A38F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957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76985"/>
                </a:solidFill>
              </a:defRPr>
            </a:pPr>
            <a:r>
              <a:rPr sz="1350" b="0">
                <a:solidFill>
                  <a:srgbClr val="676985"/>
                </a:solidFill>
              </a:rPr>
              <a:t>Markdown, Word, and PDF generated from one catalog.</a:t>
            </a:r>
          </a:p>
        </p:txBody>
      </p:sp>
      <p:sp>
        <p:nvSpPr>
          <p:cNvPr id="10" name="metric-divider-1">
            <a:extLst xmlns:a="http://schemas.openxmlformats.org/drawingml/2006/main">
              <a:ext uri="{FF2B5EF4-FFF2-40B4-BE49-F238E27FC236}">
                <a16:creationId xmlns:a16="http://schemas.microsoft.com/office/drawing/2014/main" id="{B04B5D22-6CE5-4FD2-9C2F-7E75B9CB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95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2">
            <a:extLst xmlns:a="http://schemas.openxmlformats.org/drawingml/2006/main">
              <a:ext uri="{FF2B5EF4-FFF2-40B4-BE49-F238E27FC236}">
                <a16:creationId xmlns:a16="http://schemas.microsoft.com/office/drawing/2014/main" id="{3123B9D1-90D1-4EC5-8651-89861412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8605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7D57EA"/>
                </a:solidFill>
              </a:defRPr>
            </a:pPr>
            <a:r>
              <a:rPr sz="4650" b="1">
                <a:solidFill>
                  <a:srgbClr val="7D57EA"/>
                </a:solidFill>
              </a:rPr>
              <a:t>1</a:t>
            </a:r>
          </a:p>
        </p:txBody>
      </p:sp>
      <p:sp>
        <p:nvSpPr>
          <p:cNvPr id="12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C287C498-94CE-4C4E-A50D-E6E80BEF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00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7702C"/>
                </a:solidFill>
              </a:defRPr>
            </a:pPr>
            <a:r>
              <a:rPr sz="1050" b="1">
                <a:solidFill>
                  <a:srgbClr val="A7702C"/>
                </a:solidFill>
              </a:rPr>
              <a:t>SOURCE OF TRUTH</a:t>
            </a:r>
          </a:p>
        </p:txBody>
      </p:sp>
      <p:sp>
        <p:nvSpPr>
          <p:cNvPr id="13" name="metric-body-2">
            <a:extLst xmlns:a="http://schemas.openxmlformats.org/drawingml/2006/main">
              <a:ext uri="{FF2B5EF4-FFF2-40B4-BE49-F238E27FC236}">
                <a16:creationId xmlns:a16="http://schemas.microsoft.com/office/drawing/2014/main" id="{7E92BA51-2117-4057-8C29-7D90655C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76985"/>
                </a:solidFill>
              </a:defRPr>
            </a:pPr>
            <a:r>
              <a:rPr sz="1350" b="0">
                <a:solidFill>
                  <a:srgbClr val="676985"/>
                </a:solidFill>
              </a:rPr>
              <a:t>Content hashes detect drift across every published format.</a:t>
            </a:r>
          </a:p>
        </p:txBody>
      </p:sp>
      <p:sp>
        <p:nvSpPr>
          <p:cNvPr id="14" name="bottom-band">
            <a:extLst xmlns:a="http://schemas.openxmlformats.org/drawingml/2006/main">
              <a:ext uri="{FF2B5EF4-FFF2-40B4-BE49-F238E27FC236}">
                <a16:creationId xmlns:a16="http://schemas.microsoft.com/office/drawing/2014/main" id="{1DC92F67-4475-4A0C-8A53-6370D752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05500"/>
            <a:ext cx="12192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ottom-copy">
            <a:extLst xmlns:a="http://schemas.openxmlformats.org/drawingml/2006/main">
              <a:ext uri="{FF2B5EF4-FFF2-40B4-BE49-F238E27FC236}">
                <a16:creationId xmlns:a16="http://schemas.microsoft.com/office/drawing/2014/main" id="{46B10438-E4F5-48A9-88E3-4C9C8794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EFEFE"/>
                </a:solidFill>
              </a:defRPr>
            </a:pPr>
            <a:r>
              <a:rPr sz="1650" b="1">
                <a:solidFill>
                  <a:srgbClr val="FEFEFE"/>
                </a:solidFill>
              </a:rPr>
              <a:t>Evidence stays useful because brand, content, and integrity move together.</a:t>
            </a:r>
          </a:p>
        </p:txBody>
      </p:sp>
    </p:spTree>
    <p:extLst>
      <p:ext uri="{BB962C8B-B14F-4D97-AF65-F5344CB8AC3E}">
        <p14:creationId xmlns:p14="http://schemas.microsoft.com/office/powerpoint/2010/main" val="4818282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518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0436fc08ac4174">
            <a:extLst>
              <a:ext uri="{96DAC541-7B7A-43D3-8B79-37D633B846F1}">
                <asvg:svgBlip xmlns:asvg="http://schemas.microsoft.com/office/drawing/2016/SVG/main" r:embed="R1559a60e65ef44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514350"/>
            <a:ext cx="2857500" cy="762000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2F3FB90-AB77-4C26-913A-4342A38C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EFEFE"/>
                </a:solidFill>
              </a:defRPr>
            </a:pPr>
            <a:r>
              <a:rPr sz="3900" b="1">
                <a:solidFill>
                  <a:srgbClr val="FEFEFE"/>
                </a:solidFill>
              </a:rPr>
              <a:t>Make the next decision reviewable.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B7D3727-F287-4CCA-B354-64EB6AC8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CCF8"/>
                </a:solidFill>
              </a:defRPr>
            </a:pPr>
            <a:r>
              <a:rPr sz="1800" b="0">
                <a:solidFill>
                  <a:srgbClr val="D8CCF8"/>
                </a:solidFill>
              </a:rPr>
              <a:t>Bring context, evidence, and action into one trusted operating frame.</a:t>
            </a:r>
          </a:p>
        </p:txBody>
      </p:sp>
      <p:sp>
        <p:nvSpPr>
          <p:cNvPr id="4" name="rule-80-488">
            <a:extLst xmlns:a="http://schemas.openxmlformats.org/drawingml/2006/main">
              <a:ext uri="{FF2B5EF4-FFF2-40B4-BE49-F238E27FC236}">
                <a16:creationId xmlns:a16="http://schemas.microsoft.com/office/drawing/2014/main" id="{50BC8649-194F-4088-A141-97D0BCA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1104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7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agline">
            <a:extLst xmlns:a="http://schemas.openxmlformats.org/drawingml/2006/main">
              <a:ext uri="{FF2B5EF4-FFF2-40B4-BE49-F238E27FC236}">
                <a16:creationId xmlns:a16="http://schemas.microsoft.com/office/drawing/2014/main" id="{9B3D442D-C092-4DF8-8AFA-75C2B170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CCF8"/>
                </a:solidFill>
              </a:defRPr>
            </a:pPr>
            <a:r>
              <a:rPr sz="1200" b="1">
                <a:solidFill>
                  <a:srgbClr val="D8CCF8"/>
                </a:solidFill>
              </a:rPr>
              <a:t>WHERE CONTEXT BECOMES TRUSTED ACTION.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297205c864cbc">
            <a:extLst>
              <a:ext uri="{96DAC541-7B7A-43D3-8B79-37D633B846F1}">
                <asvg:svgBlip xmlns:asvg="http://schemas.microsoft.com/office/drawing/2016/SVG/main" r:embed="R7802ba2e741e46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258300" y="3886200"/>
            <a:ext cx="2095500" cy="1571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6711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2026-09-01T10:30:09.0250000Z</dcterms:created>
  <dcterms:modified xsi:type="dcterms:W3CDTF">2026-09-01T10:30:09.0250000Z</dcterms:modified>
</coreProperties>
</file>