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b057617a947c9" /><Relationship Type="http://schemas.openxmlformats.org/officeDocument/2006/relationships/extended-properties" Target="/docProps/app.xml" Id="R8c246cb6f9984ad5" /><Relationship Type="http://schemas.openxmlformats.org/officeDocument/2006/relationships/officeDocument" Target="/ppt/presentation.xml" Id="Rba40f0c4a16d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c7ba445694474"/>
  </p:sldMasterIdLst>
  <p:notesMasterIdLst>
    <p:notesMasterId xmlns:r="http://schemas.openxmlformats.org/officeDocument/2006/relationships" r:id="Rbbd2108c210e4aab"/>
  </p:notesMasterIdLst>
  <p:sldIdLst>
    <p:sldId xmlns:r="http://schemas.openxmlformats.org/officeDocument/2006/relationships" id="256" r:id="R4191fa74385d4697"/>
    <p:sldId xmlns:r="http://schemas.openxmlformats.org/officeDocument/2006/relationships" id="257" r:id="R165edb056e3f4953"/>
    <p:sldId xmlns:r="http://schemas.openxmlformats.org/officeDocument/2006/relationships" id="258" r:id="Rcfa41bdd4dbe4bba"/>
    <p:sldId xmlns:r="http://schemas.openxmlformats.org/officeDocument/2006/relationships" id="259" r:id="Rfcaeedb8c194451a"/>
    <p:sldId xmlns:r="http://schemas.openxmlformats.org/officeDocument/2006/relationships" id="260" r:id="Rbfe692b57d7f4570"/>
    <p:sldId xmlns:r="http://schemas.openxmlformats.org/officeDocument/2006/relationships" id="261" r:id="R88cc1523a121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65e93c81b4548" /><Relationship Type="http://schemas.openxmlformats.org/officeDocument/2006/relationships/slideMaster" Target="/ppt/slideMasters/slideMaster1.xml" Id="R213c7ba445694474" /><Relationship Type="http://schemas.openxmlformats.org/officeDocument/2006/relationships/notesMaster" Target="/ppt/notesMasters/notesMaster1.xml" Id="Rbbd2108c210e4aab" /><Relationship Type="http://schemas.openxmlformats.org/officeDocument/2006/relationships/presProps" Target="/ppt/presProps.xml" Id="R45649e3311cb40d5" /><Relationship Type="http://schemas.openxmlformats.org/officeDocument/2006/relationships/tableStyles" Target="/ppt/tableStyles.xml" Id="R3b67257918bd48f8" /><Relationship Type="http://schemas.openxmlformats.org/officeDocument/2006/relationships/slide" Target="/ppt/slides/slide1.xml" Id="R4191fa74385d4697" /><Relationship Type="http://schemas.openxmlformats.org/officeDocument/2006/relationships/slide" Target="/ppt/slides/slide2.xml" Id="R165edb056e3f4953" /><Relationship Type="http://schemas.openxmlformats.org/officeDocument/2006/relationships/slide" Target="/ppt/slides/slide3.xml" Id="Rcfa41bdd4dbe4bba" /><Relationship Type="http://schemas.openxmlformats.org/officeDocument/2006/relationships/slide" Target="/ppt/slides/slide4.xml" Id="Rfcaeedb8c194451a" /><Relationship Type="http://schemas.openxmlformats.org/officeDocument/2006/relationships/slide" Target="/ppt/slides/slide5.xml" Id="Rbfe692b57d7f4570" /><Relationship Type="http://schemas.openxmlformats.org/officeDocument/2006/relationships/slide" Target="/ppt/slides/slide6.xml" Id="R88cc1523a121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c9c32aa0845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2101af7b246b5" /><Relationship Type="http://schemas.openxmlformats.org/officeDocument/2006/relationships/notesMaster" Target="/ppt/notesMasters/notesMaster1.xml" Id="R24eee359930c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78598b13524daa" /><Relationship Type="http://schemas.openxmlformats.org/officeDocument/2006/relationships/notesMaster" Target="/ppt/notesMasters/notesMaster1.xml" Id="Red3d703e6d30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790846fa214b9a" /><Relationship Type="http://schemas.openxmlformats.org/officeDocument/2006/relationships/notesMaster" Target="/ppt/notesMasters/notesMaster1.xml" Id="R479fe8a4a3fa47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286f489884953" /><Relationship Type="http://schemas.openxmlformats.org/officeDocument/2006/relationships/notesMaster" Target="/ppt/notesMasters/notesMaster1.xml" Id="R15d6b1e20aa6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7a8c410ef4fb0" /><Relationship Type="http://schemas.openxmlformats.org/officeDocument/2006/relationships/notesMaster" Target="/ppt/notesMasters/notesMaster1.xml" Id="R26fe07baba5e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443d903d214db5" /><Relationship Type="http://schemas.openxmlformats.org/officeDocument/2006/relationships/notesMaster" Target="/ppt/notesMasters/notesMaster1.xml" Id="R30a07b121ef945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opening for executive, investor, or customer presentations. Keep the title short and outcome-led.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layout to establish a new narrative section without adding an agenda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three-part narrative structure for principles, operating model, or strategic pillars.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layout to explain a three-stage architecture, operating flow, or decision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large metrics only when the numbers are meaningful and source-backed. The values shown come from the repository milestone manifest.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opening: the audience should understand the concrete decision or proof run that comes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LIGHTYEAR Brand Kit v1.0, Logo System, September 1,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53d625cf2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08ed2e6b740d6" /><Relationship Type="http://schemas.openxmlformats.org/officeDocument/2006/relationships/slideLayout" Target="/ppt/slideLayouts/slideLayout1.xml" Id="Rf470d6474d9745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0d6474d9745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a464330ee454e" /><Relationship Type="http://schemas.openxmlformats.org/officeDocument/2006/relationships/image" Target="/ppt/media/image.png" Id="R7b665fb27e874ed7" /><Relationship Type="http://schemas.openxmlformats.org/officeDocument/2006/relationships/image" Target="/ppt/media/image.svg" Id="R87095b5f95984d5f" /><Relationship Type="http://schemas.openxmlformats.org/officeDocument/2006/relationships/image" Target="/ppt/media/image2.png" Id="Re6e357161a9e47d4" /><Relationship Type="http://schemas.openxmlformats.org/officeDocument/2006/relationships/image" Target="/ppt/media/image2.svg" Id="R5191dad934bc4fd6" /><Relationship Type="http://schemas.openxmlformats.org/officeDocument/2006/relationships/notesSlide" Target="/ppt/notesSlides/notesSlide1.xml" Id="R8148037f5a2d45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5ae61bd994f88" /><Relationship Type="http://schemas.openxmlformats.org/officeDocument/2006/relationships/image" Target="/ppt/media/image3.png" Id="Rcef4e9b1bf2b4b7b" /><Relationship Type="http://schemas.openxmlformats.org/officeDocument/2006/relationships/image" Target="/ppt/media/image3.svg" Id="R71d58505b6e74c89" /><Relationship Type="http://schemas.openxmlformats.org/officeDocument/2006/relationships/image" Target="/ppt/media/image4.png" Id="R5aae8f6f6f904377" /><Relationship Type="http://schemas.openxmlformats.org/officeDocument/2006/relationships/image" Target="/ppt/media/image4.svg" Id="Ra90ba560e8274046" /><Relationship Type="http://schemas.openxmlformats.org/officeDocument/2006/relationships/notesSlide" Target="/ppt/notesSlides/notesSlide2.xml" Id="R8e405b9f675744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8045188cb4402" /><Relationship Type="http://schemas.openxmlformats.org/officeDocument/2006/relationships/image" Target="/ppt/media/image5.png" Id="R4af834c9d53a404b" /><Relationship Type="http://schemas.openxmlformats.org/officeDocument/2006/relationships/image" Target="/ppt/media/image5.svg" Id="Rb3962f24a40646d3" /><Relationship Type="http://schemas.openxmlformats.org/officeDocument/2006/relationships/notesSlide" Target="/ppt/notesSlides/notesSlide3.xml" Id="R2b54ba00c40c47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d37ff5de54e24" /><Relationship Type="http://schemas.openxmlformats.org/officeDocument/2006/relationships/image" Target="/ppt/media/image6.png" Id="Rc4dc8a50d85d4538" /><Relationship Type="http://schemas.openxmlformats.org/officeDocument/2006/relationships/image" Target="/ppt/media/image6.svg" Id="Rd5fdc9b1f5954d0d" /><Relationship Type="http://schemas.openxmlformats.org/officeDocument/2006/relationships/notesSlide" Target="/ppt/notesSlides/notesSlide4.xml" Id="Rb8b8a99a587c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1aa48d8174e62" /><Relationship Type="http://schemas.openxmlformats.org/officeDocument/2006/relationships/image" Target="/ppt/media/image7.png" Id="Rd57f2eb6fd274cd7" /><Relationship Type="http://schemas.openxmlformats.org/officeDocument/2006/relationships/image" Target="/ppt/media/image7.svg" Id="R9a5e046f08444f9a" /><Relationship Type="http://schemas.openxmlformats.org/officeDocument/2006/relationships/notesSlide" Target="/ppt/notesSlides/notesSlide5.xml" Id="R64c40f2b47e7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d56f93ec493e" /><Relationship Type="http://schemas.openxmlformats.org/officeDocument/2006/relationships/image" Target="/ppt/media/image8.png" Id="Rb22bf8eea4a54eb7" /><Relationship Type="http://schemas.openxmlformats.org/officeDocument/2006/relationships/image" Target="/ppt/media/image8.svg" Id="Re8ee8192e67f4662" /><Relationship Type="http://schemas.openxmlformats.org/officeDocument/2006/relationships/image" Target="/ppt/media/image9.png" Id="Rcdf4c35179bf4810" /><Relationship Type="http://schemas.openxmlformats.org/officeDocument/2006/relationships/image" Target="/ppt/media/image9.svg" Id="R4da9d8e79a124891" /><Relationship Type="http://schemas.openxmlformats.org/officeDocument/2006/relationships/notesSlide" Target="/ppt/notesSlides/notesSlide6.xml" Id="Rf228ce038a7644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8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65fb27e874ed7">
            <a:extLst>
              <a:ext uri="{96DAC541-7B7A-43D3-8B79-37D633B846F1}">
                <asvg:svgBlip xmlns:asvg="http://schemas.microsoft.com/office/drawing/2016/SVG/main" r:embed="R87095b5f95984d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14350"/>
            <a:ext cx="285750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rule-78-176">
            <a:extLst xmlns:a="http://schemas.openxmlformats.org/drawingml/2006/main">
              <a:ext uri="{FF2B5EF4-FFF2-40B4-BE49-F238E27FC236}">
                <a16:creationId xmlns:a16="http://schemas.microsoft.com/office/drawing/2014/main" id="{B21BA506-DE5D-41EB-94D4-49F5F3E2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3D677D-8C0D-410C-BCA5-BFD5DD09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EFEFE"/>
                </a:solidFill>
              </a:defRPr>
            </a:pPr>
            <a:r>
              <a:rPr sz="4350" b="1">
                <a:solidFill>
                  <a:srgbClr val="FEFEFE"/>
                </a:solidFill>
              </a:rPr>
              <a:t>Where context becomes</a:t>
            </a:r>
          </a:p>
          <a:p xmlns:a="http://schemas.openxmlformats.org/drawingml/2006/main">
            <a:pPr algn="l">
              <a:defRPr sz="4350" b="1">
                <a:solidFill>
                  <a:srgbClr val="FEFEFE"/>
                </a:solidFill>
              </a:defRPr>
            </a:pPr>
            <a:r>
              <a:rPr sz="4350" b="1">
                <a:solidFill>
                  <a:srgbClr val="FEFEFE"/>
                </a:solidFill>
              </a:rPr>
              <a:t>trusted action.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4B5E2D6-A8EF-4E48-B896-FD30373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CCF8"/>
                </a:solidFill>
              </a:defRPr>
            </a:pPr>
            <a:r>
              <a:rPr sz="1725" b="0">
                <a:solidFill>
                  <a:srgbClr val="D8CCF8"/>
                </a:solidFill>
              </a:rPr>
              <a:t>A presentation system for evidence-led modernization decisions.</a:t>
            </a:r>
          </a:p>
        </p:txBody>
      </p:sp>
      <p:sp>
        <p:nvSpPr>
          <p:cNvPr id="5" name="version">
            <a:extLst xmlns:a="http://schemas.openxmlformats.org/drawingml/2006/main">
              <a:ext uri="{FF2B5EF4-FFF2-40B4-BE49-F238E27FC236}">
                <a16:creationId xmlns:a16="http://schemas.microsoft.com/office/drawing/2014/main" id="{09844E02-6F5D-4662-8AB2-FEBB9A48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CCF8"/>
                </a:solidFill>
              </a:defRPr>
            </a:pPr>
            <a:r>
              <a:rPr sz="975" b="1">
                <a:solidFill>
                  <a:srgbClr val="D8CCF8"/>
                </a:solidFill>
              </a:rPr>
              <a:t>LIGHTYEAR BRAND SYSTEM · VERSION 1.0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357161a9e47d4">
            <a:extLst>
              <a:ext uri="{96DAC541-7B7A-43D3-8B79-37D633B846F1}">
                <asvg:svgBlip xmlns:asvg="http://schemas.microsoft.com/office/drawing/2016/SVG/main" r:embed="R5191dad934bc4f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3714750"/>
            <a:ext cx="2381250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41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4e9b1bf2b4b7b">
            <a:extLst>
              <a:ext uri="{96DAC541-7B7A-43D3-8B79-37D633B846F1}">
                <asvg:svgBlip xmlns:asvg="http://schemas.microsoft.com/office/drawing/2016/SVG/main" r:embed="R71d58505b6e74c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238125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3009C28-9271-4CEF-AC23-58C1818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702C"/>
                </a:solidFill>
              </a:defRPr>
            </a:pPr>
            <a:r>
              <a:rPr sz="1050" b="1">
                <a:solidFill>
                  <a:srgbClr val="A7702C"/>
                </a:solidFill>
              </a:rPr>
              <a:t>SECTION OPENER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87D8E1-687E-4CA9-8B4B-3A84AAC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84D"/>
                </a:solidFill>
              </a:defRPr>
            </a:pPr>
            <a:r>
              <a:rPr sz="3900" b="1">
                <a:solidFill>
                  <a:srgbClr val="15184D"/>
                </a:solidFill>
              </a:rPr>
              <a:t>A system built for</a:t>
            </a:r>
          </a:p>
          <a:p xmlns:a="http://schemas.openxmlformats.org/drawingml/2006/main">
            <a:pPr algn="l">
              <a:defRPr sz="3900" b="1">
                <a:solidFill>
                  <a:srgbClr val="15184D"/>
                </a:solidFill>
              </a:defRPr>
            </a:pPr>
            <a:r>
              <a:rPr sz="3900" b="1">
                <a:solidFill>
                  <a:srgbClr val="15184D"/>
                </a:solidFill>
              </a:rPr>
              <a:t>reviewable decisions.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74C8A5F-F4C7-4AA6-BD99-4CF8C51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985"/>
                </a:solidFill>
              </a:defRPr>
            </a:pPr>
            <a:r>
              <a:rPr sz="1650" b="0">
                <a:solidFill>
                  <a:srgbClr val="676985"/>
                </a:solidFill>
              </a:rPr>
              <a:t>Use generous whitespace, a single clear claim, and one signal of emphasis.</a:t>
            </a:r>
          </a:p>
        </p:txBody>
      </p:sp>
      <p:sp>
        <p:nvSpPr>
          <p:cNvPr id="5" name="violet-field">
            <a:extLst xmlns:a="http://schemas.openxmlformats.org/drawingml/2006/main">
              <a:ext uri="{FF2B5EF4-FFF2-40B4-BE49-F238E27FC236}">
                <a16:creationId xmlns:a16="http://schemas.microsoft.com/office/drawing/2014/main" id="{82C6464C-B0CF-4FEC-A35F-39BFD984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3105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e8f6f6f904377">
            <a:extLst>
              <a:ext uri="{96DAC541-7B7A-43D3-8B79-37D633B846F1}">
                <asvg:svgBlip xmlns:asvg="http://schemas.microsoft.com/office/drawing/2016/SVG/main" r:embed="Ra90ba560e82740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2238375"/>
            <a:ext cx="22860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rule-954-0">
            <a:extLst xmlns:a="http://schemas.openxmlformats.org/drawingml/2006/main">
              <a:ext uri="{FF2B5EF4-FFF2-40B4-BE49-F238E27FC236}">
                <a16:creationId xmlns:a16="http://schemas.microsoft.com/office/drawing/2014/main" id="{037F70A9-8D89-4E44-B360-C688D317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7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2052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834c9d53a404b">
            <a:extLst>
              <a:ext uri="{96DAC541-7B7A-43D3-8B79-37D633B846F1}">
                <asvg:svgBlip xmlns:asvg="http://schemas.microsoft.com/office/drawing/2016/SVG/main" r:embed="Rb3962f24a40646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238125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64ACB6-2260-4282-B620-DFD1BD55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84D"/>
                </a:solidFill>
              </a:defRPr>
            </a:pPr>
            <a:r>
              <a:rPr sz="3000" b="1">
                <a:solidFill>
                  <a:srgbClr val="15184D"/>
                </a:solidFill>
              </a:rPr>
              <a:t>Modernization decisions need evidence, not confidence theater.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4B8419FA-1FCA-467B-8A95-85999E48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D57EA"/>
                </a:solidFill>
              </a:defRPr>
            </a:pPr>
            <a:r>
              <a:rPr sz="2850" b="1">
                <a:solidFill>
                  <a:srgbClr val="7D57EA"/>
                </a:solidFill>
              </a:rPr>
              <a:t>01</a:t>
            </a:r>
          </a:p>
        </p:txBody>
      </p:sp>
      <p:sp>
        <p:nvSpPr>
          <p:cNvPr id="4" name="heading-0">
            <a:extLst xmlns:a="http://schemas.openxmlformats.org/drawingml/2006/main">
              <a:ext uri="{FF2B5EF4-FFF2-40B4-BE49-F238E27FC236}">
                <a16:creationId xmlns:a16="http://schemas.microsoft.com/office/drawing/2014/main" id="{A399A21D-C823-4F21-A992-D713433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84D"/>
                </a:solidFill>
              </a:defRPr>
            </a:pPr>
            <a:r>
              <a:rPr sz="1950" b="1">
                <a:solidFill>
                  <a:srgbClr val="15184D"/>
                </a:solidFill>
              </a:rPr>
              <a:t>Context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26532BDA-14CC-4448-92DB-1B713655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985"/>
                </a:solidFill>
              </a:defRPr>
            </a:pPr>
            <a:r>
              <a:rPr sz="1425" b="0">
                <a:solidFill>
                  <a:srgbClr val="676985"/>
                </a:solidFill>
              </a:rPr>
              <a:t>Keep every workload, dependency, policy, and evidence class in one navigable frame.</a:t>
            </a:r>
          </a:p>
        </p:txBody>
      </p:sp>
      <p:sp>
        <p:nvSpPr>
          <p:cNvPr id="6" name="divider-1">
            <a:extLst xmlns:a="http://schemas.openxmlformats.org/drawingml/2006/main">
              <a:ext uri="{FF2B5EF4-FFF2-40B4-BE49-F238E27FC236}">
                <a16:creationId xmlns:a16="http://schemas.microsoft.com/office/drawing/2014/main" id="{59F5D5A7-0636-43F1-AD3A-2B8E489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11AF78E-0BA0-4F94-8A46-91EC691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D57EA"/>
                </a:solidFill>
              </a:defRPr>
            </a:pPr>
            <a:r>
              <a:rPr sz="2850" b="1">
                <a:solidFill>
                  <a:srgbClr val="7D57EA"/>
                </a:solidFill>
              </a:rPr>
              <a:t>02</a:t>
            </a:r>
          </a:p>
        </p:txBody>
      </p:sp>
      <p:sp>
        <p:nvSpPr>
          <p:cNvPr id="8" name="heading-1">
            <a:extLst xmlns:a="http://schemas.openxmlformats.org/drawingml/2006/main">
              <a:ext uri="{FF2B5EF4-FFF2-40B4-BE49-F238E27FC236}">
                <a16:creationId xmlns:a16="http://schemas.microsoft.com/office/drawing/2014/main" id="{F81498D9-773A-431E-BB6A-5F72DFDC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84D"/>
                </a:solidFill>
              </a:defRPr>
            </a:pPr>
            <a:r>
              <a:rPr sz="1950" b="1">
                <a:solidFill>
                  <a:srgbClr val="15184D"/>
                </a:solidFill>
              </a:rPr>
              <a:t>Proof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DD2F1FA4-E8C7-4A5A-8131-77CCF1A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985"/>
                </a:solidFill>
              </a:defRPr>
            </a:pPr>
            <a:r>
              <a:rPr sz="1425" b="0">
                <a:solidFill>
                  <a:srgbClr val="676985"/>
                </a:solidFill>
              </a:rPr>
              <a:t>Separate asserted mappings, deterministic results, and authorized live observations.</a:t>
            </a:r>
          </a:p>
        </p:txBody>
      </p:sp>
      <p:sp>
        <p:nvSpPr>
          <p:cNvPr id="10" name="divider-2">
            <a:extLst xmlns:a="http://schemas.openxmlformats.org/drawingml/2006/main">
              <a:ext uri="{FF2B5EF4-FFF2-40B4-BE49-F238E27FC236}">
                <a16:creationId xmlns:a16="http://schemas.microsoft.com/office/drawing/2014/main" id="{FF53CBD6-CBC5-4FFC-A883-68A4BEC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2">
            <a:extLst xmlns:a="http://schemas.openxmlformats.org/drawingml/2006/main">
              <a:ext uri="{FF2B5EF4-FFF2-40B4-BE49-F238E27FC236}">
                <a16:creationId xmlns:a16="http://schemas.microsoft.com/office/drawing/2014/main" id="{7A1B0178-7C01-4A6E-9DB0-DE8B0F54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D57EA"/>
                </a:solidFill>
              </a:defRPr>
            </a:pPr>
            <a:r>
              <a:rPr sz="2850" b="1">
                <a:solidFill>
                  <a:srgbClr val="7D57EA"/>
                </a:solidFill>
              </a:rPr>
              <a:t>03</a:t>
            </a:r>
          </a:p>
        </p:txBody>
      </p:sp>
      <p:sp>
        <p:nvSpPr>
          <p:cNvPr id="12" name="heading-2">
            <a:extLst xmlns:a="http://schemas.openxmlformats.org/drawingml/2006/main">
              <a:ext uri="{FF2B5EF4-FFF2-40B4-BE49-F238E27FC236}">
                <a16:creationId xmlns:a16="http://schemas.microsoft.com/office/drawing/2014/main" id="{9ED24F63-CB71-4FFD-A96A-A7BFD4EB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84D"/>
                </a:solidFill>
              </a:defRPr>
            </a:pPr>
            <a:r>
              <a:rPr sz="1950" b="1">
                <a:solidFill>
                  <a:srgbClr val="15184D"/>
                </a:solidFill>
              </a:rPr>
              <a:t>Action</a:t>
            </a:r>
          </a:p>
        </p:txBody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6332B98B-BC6F-4684-8026-DC053173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985"/>
                </a:solidFill>
              </a:defRPr>
            </a:pPr>
            <a:r>
              <a:rPr sz="1425" b="0">
                <a:solidFill>
                  <a:srgbClr val="676985"/>
                </a:solidFill>
              </a:rPr>
              <a:t>Turn evidence into the next bounded decision, owner, gate, or proof run.</a:t>
            </a:r>
          </a:p>
        </p:txBody>
      </p:sp>
      <p:sp>
        <p:nvSpPr>
          <p:cNvPr id="14" name="rule-76-596">
            <a:extLst xmlns:a="http://schemas.openxmlformats.org/drawingml/2006/main">
              <a:ext uri="{FF2B5EF4-FFF2-40B4-BE49-F238E27FC236}">
                <a16:creationId xmlns:a16="http://schemas.microsoft.com/office/drawing/2014/main" id="{A8578A19-10FC-4A8A-9E8C-6689BEE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8C118D5-F18B-4E14-9353-5DA2FC5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84D"/>
                </a:solidFill>
              </a:defRPr>
            </a:pPr>
            <a:r>
              <a:rPr sz="1350" b="1">
                <a:solidFill>
                  <a:srgbClr val="15184D"/>
                </a:solidFill>
              </a:rPr>
              <a:t>One system. One source of truth. Clear claim boundaries.</a:t>
            </a:r>
          </a:p>
        </p:txBody>
      </p:sp>
    </p:spTree>
    <p:extLst>
      <p:ext uri="{BB962C8B-B14F-4D97-AF65-F5344CB8AC3E}">
        <p14:creationId xmlns:p14="http://schemas.microsoft.com/office/powerpoint/2010/main" val="1531960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c8a50d85d4538">
            <a:extLst>
              <a:ext uri="{96DAC541-7B7A-43D3-8B79-37D633B846F1}">
                <asvg:svgBlip xmlns:asvg="http://schemas.microsoft.com/office/drawing/2016/SVG/main" r:embed="Rd5fdc9b1f5954d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238125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C485F2-82C0-405C-BE22-E4774D6A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84D"/>
                </a:solidFill>
              </a:defRPr>
            </a:pPr>
            <a:r>
              <a:rPr sz="3000" b="1">
                <a:solidFill>
                  <a:srgbClr val="15184D"/>
                </a:solidFill>
              </a:rPr>
              <a:t>Every decision remains attached to its evidence chain.</a:t>
            </a:r>
          </a:p>
        </p:txBody>
      </p:sp>
      <p:sp>
        <p:nvSpPr>
          <p:cNvPr id="3" name="stage-0">
            <a:extLst xmlns:a="http://schemas.openxmlformats.org/drawingml/2006/main">
              <a:ext uri="{FF2B5EF4-FFF2-40B4-BE49-F238E27FC236}">
                <a16:creationId xmlns:a16="http://schemas.microsoft.com/office/drawing/2014/main" id="{A87217FB-E0E0-495F-B44B-E53511DF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EBFB"/>
          </a:solidFill>
          <a:ln xmlns:a="http://schemas.openxmlformats.org/drawingml/2006/main" w="9525">
            <a:solidFill>
              <a:srgbClr val="DDD7F2"/>
            </a:solidFill>
            <a:prstDash val="solid"/>
          </a:ln>
        </p:spPr>
      </p:sp>
      <p:sp>
        <p:nvSpPr>
          <p:cNvPr id="4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5C989AE1-1727-4DD1-BDB0-AC9C5045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84D"/>
                </a:solidFill>
              </a:defRPr>
            </a:pPr>
            <a:r>
              <a:rPr sz="1875" b="1">
                <a:solidFill>
                  <a:srgbClr val="15184D"/>
                </a:solidFill>
              </a:rPr>
              <a:t>Sources</a:t>
            </a:r>
          </a:p>
        </p:txBody>
      </p:sp>
      <p:sp>
        <p:nvSpPr>
          <p:cNvPr id="5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4C182CCF-B4FC-4E83-88F7-9976A08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6985"/>
                </a:solidFill>
              </a:defRPr>
            </a:pPr>
            <a:r>
              <a:rPr sz="1200" b="0">
                <a:solidFill>
                  <a:srgbClr val="676985"/>
                </a:solidFill>
              </a:rPr>
              <a:t>Code · schemas · runtime</a:t>
            </a:r>
          </a:p>
        </p:txBody>
      </p:sp>
      <p:sp>
        <p:nvSpPr>
          <p:cNvPr id="6" name="connector-0">
            <a:extLst xmlns:a="http://schemas.openxmlformats.org/drawingml/2006/main">
              <a:ext uri="{FF2B5EF4-FFF2-40B4-BE49-F238E27FC236}">
                <a16:creationId xmlns:a16="http://schemas.microsoft.com/office/drawing/2014/main" id="{2DE4D836-AA57-4138-9DB3-E21CEDC6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052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9A09DB05-8A9B-4815-9F19-26D1855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8B36AF75-1FB3-49F6-B982-11C8B7D1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7D57EA"/>
          </a:solidFill>
          <a:ln xmlns:a="http://schemas.openxmlformats.org/drawingml/2006/main" w="9525">
            <a:solidFill>
              <a:srgbClr val="7D57EA"/>
            </a:solidFill>
            <a:prstDash val="solid"/>
          </a:ln>
        </p:spPr>
      </p:sp>
      <p:sp>
        <p:nvSpPr>
          <p:cNvPr id="9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77D9B633-5964-44BD-B697-BFC8EEF2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EFEFE"/>
                </a:solidFill>
              </a:defRPr>
            </a:pPr>
            <a:r>
              <a:rPr sz="1875" b="1">
                <a:solidFill>
                  <a:srgbClr val="FEFEFE"/>
                </a:solidFill>
              </a:rPr>
              <a:t>Knowledge Graph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5F9CBFA7-134D-40BE-A677-107413F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FEBFB"/>
                </a:solidFill>
              </a:defRPr>
            </a:pPr>
            <a:r>
              <a:rPr sz="1200" b="0">
                <a:solidFill>
                  <a:srgbClr val="EFEBFB"/>
                </a:solidFill>
              </a:rPr>
              <a:t>Context · claims · relationships</a:t>
            </a:r>
          </a:p>
        </p:txBody>
      </p:sp>
      <p:sp>
        <p:nvSpPr>
          <p:cNvPr id="11" name="connector-1">
            <a:extLst xmlns:a="http://schemas.openxmlformats.org/drawingml/2006/main">
              <a:ext uri="{FF2B5EF4-FFF2-40B4-BE49-F238E27FC236}">
                <a16:creationId xmlns:a16="http://schemas.microsoft.com/office/drawing/2014/main" id="{98519390-01C8-4D5F-9F84-495A267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052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5ED64213-4D2A-422D-992E-53CF884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1950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2">
            <a:extLst xmlns:a="http://schemas.openxmlformats.org/drawingml/2006/main">
              <a:ext uri="{FF2B5EF4-FFF2-40B4-BE49-F238E27FC236}">
                <a16:creationId xmlns:a16="http://schemas.microsoft.com/office/drawing/2014/main" id="{3AB07B39-4700-48A3-B1FF-F2079421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EBFB"/>
          </a:solidFill>
          <a:ln xmlns:a="http://schemas.openxmlformats.org/drawingml/2006/main" w="9525">
            <a:solidFill>
              <a:srgbClr val="DDD7F2"/>
            </a:solidFill>
            <a:prstDash val="solid"/>
          </a:ln>
        </p:spPr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C1FA92ED-12C4-4CE9-8303-C66730BE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84D"/>
                </a:solidFill>
              </a:defRPr>
            </a:pPr>
            <a:r>
              <a:rPr sz="1875" b="1">
                <a:solidFill>
                  <a:srgbClr val="15184D"/>
                </a:solidFill>
              </a:rPr>
              <a:t>Trusted Action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06103F54-7CD4-48EA-8EF8-9184B16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6985"/>
                </a:solidFill>
              </a:defRPr>
            </a:pPr>
            <a:r>
              <a:rPr sz="1200" b="0">
                <a:solidFill>
                  <a:srgbClr val="676985"/>
                </a:solidFill>
              </a:rPr>
              <a:t>Decision · gate · proof run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C9615C68-99ED-4091-908F-799C668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84D"/>
                </a:solidFill>
              </a:defRPr>
            </a:pPr>
            <a:r>
              <a:rPr sz="1575" b="1">
                <a:solidFill>
                  <a:srgbClr val="15184D"/>
                </a:solidFill>
              </a:rPr>
              <a:t>The graph is the connective tissue—not a decorative visualization.</a:t>
            </a:r>
          </a:p>
        </p:txBody>
      </p:sp>
      <p:sp>
        <p:nvSpPr>
          <p:cNvPr id="17" name="support">
            <a:extLst xmlns:a="http://schemas.openxmlformats.org/drawingml/2006/main">
              <a:ext uri="{FF2B5EF4-FFF2-40B4-BE49-F238E27FC236}">
                <a16:creationId xmlns:a16="http://schemas.microsoft.com/office/drawing/2014/main" id="{9869DC45-1750-46E3-A208-D9B8927E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985"/>
                </a:solidFill>
              </a:defRPr>
            </a:pPr>
            <a:r>
              <a:rPr sz="1275" b="0">
                <a:solidFill>
                  <a:srgbClr val="676985"/>
                </a:solidFill>
              </a:rPr>
              <a:t>Claims can be traced backward to source and forward to the next controlled action.</a:t>
            </a:r>
          </a:p>
        </p:txBody>
      </p:sp>
    </p:spTree>
    <p:extLst>
      <p:ext uri="{BB962C8B-B14F-4D97-AF65-F5344CB8AC3E}">
        <p14:creationId xmlns:p14="http://schemas.microsoft.com/office/powerpoint/2010/main" val="1877921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f2eb6fd274cd7">
            <a:extLst>
              <a:ext uri="{96DAC541-7B7A-43D3-8B79-37D633B846F1}">
                <asvg:svgBlip xmlns:asvg="http://schemas.microsoft.com/office/drawing/2016/SVG/main" r:embed="R9a5e046f08444f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238125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EEBC76-0C5E-4B76-986A-667FEAC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84D"/>
                </a:solidFill>
              </a:defRPr>
            </a:pPr>
            <a:r>
              <a:rPr sz="3000" b="1">
                <a:solidFill>
                  <a:srgbClr val="15184D"/>
                </a:solidFill>
              </a:rPr>
              <a:t>The documentation system is governed at portfolio scale.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84C50A50-4C00-4FF0-8BEB-CA398DEC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7D57EA"/>
                </a:solidFill>
              </a:defRPr>
            </a:pPr>
            <a:r>
              <a:rPr sz="4650" b="1">
                <a:solidFill>
                  <a:srgbClr val="7D57EA"/>
                </a:solidFill>
              </a:rPr>
              <a:t>47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259C304-BA82-4277-8812-DDF36065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702C"/>
                </a:solidFill>
              </a:defRPr>
            </a:pPr>
            <a:r>
              <a:rPr sz="1050" b="1">
                <a:solidFill>
                  <a:srgbClr val="A7702C"/>
                </a:solidFill>
              </a:rPr>
              <a:t>MILESTONES</a:t>
            </a:r>
          </a:p>
        </p:txBody>
      </p:sp>
      <p:sp>
        <p:nvSpPr>
          <p:cNvPr id="5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303F8387-6E1F-4C03-8AF8-4C420AF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985"/>
                </a:solidFill>
              </a:defRPr>
            </a:pPr>
            <a:r>
              <a:rPr sz="1350" b="0">
                <a:solidFill>
                  <a:srgbClr val="676985"/>
                </a:solidFill>
              </a:rPr>
              <a:t>A customer-readable brief for every governed milestone.</a:t>
            </a:r>
          </a:p>
        </p:txBody>
      </p:sp>
      <p:sp>
        <p:nvSpPr>
          <p:cNvPr id="6" name="metric-divider-0">
            <a:extLst xmlns:a="http://schemas.openxmlformats.org/drawingml/2006/main">
              <a:ext uri="{FF2B5EF4-FFF2-40B4-BE49-F238E27FC236}">
                <a16:creationId xmlns:a16="http://schemas.microsoft.com/office/drawing/2014/main" id="{24803F4F-461E-4C41-ACEE-BAB7A36D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2EDD7884-DA78-4ECC-B505-14163079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7D57EA"/>
                </a:solidFill>
              </a:defRPr>
            </a:pPr>
            <a:r>
              <a:rPr sz="4650" b="1">
                <a:solidFill>
                  <a:srgbClr val="7D57EA"/>
                </a:solidFill>
              </a:rPr>
              <a:t>141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5479553-969A-4FB6-9F35-59E58DF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702C"/>
                </a:solidFill>
              </a:defRPr>
            </a:pPr>
            <a:r>
              <a:rPr sz="1050" b="1">
                <a:solidFill>
                  <a:srgbClr val="A7702C"/>
                </a:solidFill>
              </a:rPr>
              <a:t>ARTIFACTS</a:t>
            </a:r>
          </a:p>
        </p:txBody>
      </p:sp>
      <p:sp>
        <p:nvSpPr>
          <p:cNvPr id="9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FEBDB1A1-7241-46C7-8D25-70C1B67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985"/>
                </a:solidFill>
              </a:defRPr>
            </a:pPr>
            <a:r>
              <a:rPr sz="1350" b="0">
                <a:solidFill>
                  <a:srgbClr val="676985"/>
                </a:solidFill>
              </a:rPr>
              <a:t>Markdown, Word, and PDF generated from one catalog.</a:t>
            </a:r>
          </a:p>
        </p:txBody>
      </p:sp>
      <p:sp>
        <p:nvSpPr>
          <p:cNvPr id="10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4DE0FAD1-0AC6-470E-AF79-F4B91BA5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D48C0F54-1F62-4E28-A567-6565DA9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7D57EA"/>
                </a:solidFill>
              </a:defRPr>
            </a:pPr>
            <a:r>
              <a:rPr sz="4650" b="1">
                <a:solidFill>
                  <a:srgbClr val="7D57EA"/>
                </a:solidFill>
              </a:rPr>
              <a:t>1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419D05D2-381E-4BF9-94B9-211AA180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702C"/>
                </a:solidFill>
              </a:defRPr>
            </a:pPr>
            <a:r>
              <a:rPr sz="1050" b="1">
                <a:solidFill>
                  <a:srgbClr val="A7702C"/>
                </a:solidFill>
              </a:rPr>
              <a:t>SOURCE OF TRUTH</a:t>
            </a:r>
          </a:p>
        </p:txBody>
      </p:sp>
      <p:sp>
        <p:nvSpPr>
          <p:cNvPr id="13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8B459B0E-3940-496C-AD16-EA181744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985"/>
                </a:solidFill>
              </a:defRPr>
            </a:pPr>
            <a:r>
              <a:rPr sz="1350" b="0">
                <a:solidFill>
                  <a:srgbClr val="676985"/>
                </a:solidFill>
              </a:rPr>
              <a:t>Content hashes detect drift across every published format.</a:t>
            </a:r>
          </a:p>
        </p:txBody>
      </p:sp>
      <p:sp>
        <p:nvSpPr>
          <p:cNvPr id="1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CCD9526-0B28-4430-81AD-17062968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ttom-copy">
            <a:extLst xmlns:a="http://schemas.openxmlformats.org/drawingml/2006/main">
              <a:ext uri="{FF2B5EF4-FFF2-40B4-BE49-F238E27FC236}">
                <a16:creationId xmlns:a16="http://schemas.microsoft.com/office/drawing/2014/main" id="{A8E0635F-9C49-4B62-BA93-32E4A795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EFEFE"/>
                </a:solidFill>
              </a:defRPr>
            </a:pPr>
            <a:r>
              <a:rPr sz="1650" b="1">
                <a:solidFill>
                  <a:srgbClr val="FEFEFE"/>
                </a:solidFill>
              </a:rPr>
              <a:t>Evidence stays useful because brand, content, and integrity move together.</a:t>
            </a:r>
          </a:p>
        </p:txBody>
      </p:sp>
    </p:spTree>
    <p:extLst>
      <p:ext uri="{BB962C8B-B14F-4D97-AF65-F5344CB8AC3E}">
        <p14:creationId xmlns:p14="http://schemas.microsoft.com/office/powerpoint/2010/main" val="1337339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8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bf8eea4a54eb7">
            <a:extLst>
              <a:ext uri="{96DAC541-7B7A-43D3-8B79-37D633B846F1}">
                <asvg:svgBlip xmlns:asvg="http://schemas.microsoft.com/office/drawing/2016/SVG/main" r:embed="Re8ee8192e67f46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14350"/>
            <a:ext cx="285750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CFDFE3-305B-4A7E-A9F0-865ED24A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EFEFE"/>
                </a:solidFill>
              </a:defRPr>
            </a:pPr>
            <a:r>
              <a:rPr sz="3900" b="1">
                <a:solidFill>
                  <a:srgbClr val="FEFEFE"/>
                </a:solidFill>
              </a:rPr>
              <a:t>Make the next decision reviewable.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100BE92-0A6E-48EE-9496-BAD5AF4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CCF8"/>
                </a:solidFill>
              </a:defRPr>
            </a:pPr>
            <a:r>
              <a:rPr sz="1800" b="0">
                <a:solidFill>
                  <a:srgbClr val="D8CCF8"/>
                </a:solidFill>
              </a:rPr>
              <a:t>Bring context, evidence, and action into one trusted operating frame.</a:t>
            </a:r>
          </a:p>
        </p:txBody>
      </p:sp>
      <p:sp>
        <p:nvSpPr>
          <p:cNvPr id="4" name="rule-80-488">
            <a:extLst xmlns:a="http://schemas.openxmlformats.org/drawingml/2006/main">
              <a:ext uri="{FF2B5EF4-FFF2-40B4-BE49-F238E27FC236}">
                <a16:creationId xmlns:a16="http://schemas.microsoft.com/office/drawing/2014/main" id="{4F858478-70CA-4248-9997-067A2D35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gline">
            <a:extLst xmlns:a="http://schemas.openxmlformats.org/drawingml/2006/main">
              <a:ext uri="{FF2B5EF4-FFF2-40B4-BE49-F238E27FC236}">
                <a16:creationId xmlns:a16="http://schemas.microsoft.com/office/drawing/2014/main" id="{8D9FC9BE-B5AA-4314-A73D-524E42CC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CF8"/>
                </a:solidFill>
              </a:defRPr>
            </a:pPr>
            <a:r>
              <a:rPr sz="1200" b="1">
                <a:solidFill>
                  <a:srgbClr val="D8CCF8"/>
                </a:solidFill>
              </a:rPr>
              <a:t>WHERE CONTEXT BECOMES TRUSTED ACTION.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c35179bf4810">
            <a:extLst>
              <a:ext uri="{96DAC541-7B7A-43D3-8B79-37D633B846F1}">
                <asvg:svgBlip xmlns:asvg="http://schemas.microsoft.com/office/drawing/2016/SVG/main" r:embed="R4da9d8e79a1248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3886200"/>
            <a:ext cx="2095500" cy="157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31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2026-09-01T12:23:34.2560000Z</dcterms:created>
  <dcterms:modified xsi:type="dcterms:W3CDTF">2026-09-01T12:23:34.2560000Z</dcterms:modified>
</coreProperties>
</file>